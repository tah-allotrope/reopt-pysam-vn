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55B55"/>
                </a:solidFill>
                <a:latin typeface="Cabin"/>
              </a:rPr>
              <a:t>DPPA Case 2
Ninhsim Synthetic DPPA Closeout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Cabin"/>
              </a:rPr>
              <a:t>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55B55"/>
                </a:solidFill>
                <a:latin typeface="Cabin"/>
              </a:rPr>
              <a:t>ALLOTROPE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55B55"/>
                </a:solidFill>
                <a:latin typeface="Cabin"/>
              </a:rPr>
              <a:t>Executive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Project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Ninhsim Synthetic DPPA (Case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Decision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reject_current_case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Buyer Premium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~12.8B VND vs EVN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Developer NPV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Negative across all tested strikes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Strike Range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Tested 15%, 10%, 5%, 0% below weighted EVN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C483F"/>
                </a:solidFill>
                <a:latin typeface="Cabin"/>
              </a:rPr>
              <a:t>CONTEXT &amp;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5B55"/>
                </a:solidFill>
                <a:latin typeface="Cabin"/>
              </a:rPr>
              <a:t>Key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05840"/>
            <a:ext cx="2651760" cy="1554480"/>
          </a:xfrm>
          <a:prstGeom prst="roundRect">
            <a:avLst/>
          </a:prstGeom>
          <a:solidFill>
            <a:srgbClr val="B5D8D0"/>
          </a:solidFill>
          <a:ln w="19050">
            <a:solidFill>
              <a:srgbClr val="0C4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C483F"/>
                </a:solidFill>
                <a:latin typeface="Cabin"/>
              </a:rPr>
              <a:t>Buyer Premium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bin"/>
              </a:rPr>
              <a:t>~12.81B VND premium vs EVN benchmark under actual market reference.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05840"/>
            <a:ext cx="2651760" cy="1554480"/>
          </a:xfrm>
          <a:prstGeom prst="roundRect">
            <a:avLst/>
          </a:prstGeom>
          <a:solidFill>
            <a:srgbClr val="D7ECE8"/>
          </a:solidFill>
          <a:ln w="19050">
            <a:solidFill>
              <a:srgbClr val="105C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0972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C483F"/>
                </a:solidFill>
                <a:latin typeface="Cabin"/>
              </a:rPr>
              <a:t>Lowest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630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bin"/>
              </a:rPr>
              <a:t>Even at 15% strike discount, buyer still pays ~1.55B VND premium.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05840"/>
            <a:ext cx="2651760" cy="1554480"/>
          </a:xfrm>
          <a:prstGeom prst="roundRect">
            <a:avLst/>
          </a:prstGeom>
          <a:solidFill>
            <a:srgbClr val="D6ECE8"/>
          </a:solidFill>
          <a:ln w="19050">
            <a:solidFill>
              <a:srgbClr val="116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0972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C483F"/>
                </a:solidFill>
                <a:latin typeface="Cabin"/>
              </a:rPr>
              <a:t>Developer NPV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4630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bin"/>
              </a:rPr>
              <a:t>Best tested developer NPV remains negative at ~-$45.19M.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34640"/>
            <a:ext cx="2651760" cy="1554480"/>
          </a:xfrm>
          <a:prstGeom prst="roundRect">
            <a:avLst/>
          </a:prstGeom>
          <a:solidFill>
            <a:srgbClr val="7CD0C8"/>
          </a:solidFill>
          <a:ln w="19050">
            <a:solidFill>
              <a:srgbClr val="1476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926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C483F"/>
                </a:solidFill>
                <a:latin typeface="Cabin"/>
              </a:rPr>
              <a:t>CFD Stress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bin"/>
              </a:rPr>
              <a:t>Excess-generation CfD exposure adds ~4.23B VND under stress.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2834640"/>
            <a:ext cx="2651760" cy="1554480"/>
          </a:xfrm>
          <a:prstGeom prst="roundRect">
            <a:avLst/>
          </a:prstGeom>
          <a:solidFill>
            <a:srgbClr val="B5D8D0"/>
          </a:solidFill>
          <a:ln w="19050">
            <a:solidFill>
              <a:srgbClr val="198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92608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C483F"/>
                </a:solidFill>
                <a:latin typeface="Cabin"/>
              </a:rP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2918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Cabin"/>
              </a:rPr>
              <a:t>Reject current case. Reopen only if strike basis or market data changes materially.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C483F"/>
                </a:solidFill>
                <a:latin typeface="Cabin"/>
              </a:rPr>
              <a:t>ANALYSIS &amp;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5B55"/>
                </a:solidFill>
                <a:latin typeface="Cabin"/>
              </a:rPr>
              <a:t>Financial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Metric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Value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5B55"/>
                          </a:solidFill>
                          <a:latin typeface="Cabin"/>
                        </a:rPr>
                        <a:t>Notes</a:t>
                      </a:r>
                    </a:p>
                  </a:txBody>
                  <a:tcPr>
                    <a:solidFill>
                      <a:srgbClr val="B5D8D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Buyer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12.81B VND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vs EVN benchmark (actual market)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Lowest Tested 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1.55B VND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At 15% strike discount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Developer NPV (best)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-$45.19M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After-tax, Single Owner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CFD Stress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4.23B VND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  <a:latin typeface="Cabin"/>
                        </a:rPr>
                        <a:t>20% market drop scenario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5B55"/>
                </a:solidFill>
                <a:latin typeface="Cabin"/>
              </a:rPr>
              <a:t>Settlement Design &amp;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• Synthetic/financial DPPA with min(load, generation) settlement quantity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• Buyer pays (strike - market) × settled quantity; excess generation excluded.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• REopt.jl v0.56.4 for physical sizing; PySAM Single Owner for developer finance.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• Market reference replaced with repo-local saigon18 CFMP transfer series.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• Strike sensitivities: 15%, 10%, 5%, 0% below weighted EVN tariff.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0C483F"/>
                </a:solidFill>
                <a:latin typeface="Cabin"/>
              </a:rPr>
              <a:t>NEXT STEPS &amp; DECISION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55B55"/>
                </a:solidFill>
                <a:latin typeface="Cabin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1. Keep Case 2 closed as reject under current assumptions.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2. Reopen only if site-specific CFMP/FMP data, strike basis, or physical scope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3. If reopened, start from combined-decision JSON (Phase G) rather than replaying history.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4. Consider hybrid settlement with excess credits as alternative mechanism.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bin"/>
              </a:rPr>
              <a:t>5. Evaluate BESS degradation modeling in future settlement revisions.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20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Cabin"/>
              </a:rPr>
              <a:t>Confidential — For Internal Use by Allotrope &amp; Key Partners — Not Approved for Further Circulation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47320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00000"/>
                </a:solidFill>
                <a:latin typeface="Cabin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"/>
            <a:ext cx="1097280" cy="18288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55B55"/>
                </a:solidFill>
                <a:latin typeface="Cabin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Cabin"/>
              </a:rPr>
              <a:t>Questions?
contact@allotrope.vc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55B55"/>
                </a:solidFill>
                <a:latin typeface="Cabin"/>
              </a:rPr>
              <a:t>ALLOTROPE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