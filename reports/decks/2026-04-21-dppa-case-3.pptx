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55B55"/>
                </a:solidFill>
                <a:latin typeface="Cabin"/>
              </a:rPr>
              <a:t>DPPA Case 3
Saigon18 Bridge Final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bin"/>
              </a:rPr>
              <a:t>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55B55"/>
                </a:solidFill>
                <a:latin typeface="Cabin"/>
              </a:rPr>
              <a:t>ALLOTROPE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bin"/>
              </a:rPr>
              <a:t>Partner: Tara | USAID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55B55"/>
                </a:solidFill>
                <a:latin typeface="Cabin"/>
              </a:rPr>
              <a:t>Executive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Project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Saigon18 DPPA Case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Decision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REJECT CURRENT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Buyer Payment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353.9B VND/yr (vs EVN 351.0B VND/yr)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Matched Renewable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6.8 GWh/yr (3.7% of 184 GWh load)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Developer DSCR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-0.175 (required ≥ 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Developer NPV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-$6.05M USD (after-tax)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C483F"/>
                </a:solidFill>
                <a:latin typeface="Cabin"/>
              </a:rPr>
              <a:t>CONTEXT &amp;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5B55"/>
                </a:solidFill>
                <a:latin typeface="Cabin"/>
              </a:rPr>
              <a:t>Key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2651760" cy="1554480"/>
          </a:xfrm>
          <a:prstGeom prst="roundRect">
            <a:avLst/>
          </a:prstGeom>
          <a:solidFill>
            <a:srgbClr val="B5D8D0"/>
          </a:solidFill>
          <a:ln w="19050">
            <a:solidFill>
              <a:srgbClr val="0C4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Buyer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FAIL — DPPA payment 353.9B VND/yr exceeds EVN benchmark 351.0B VND/yr by 2.9B VND/yr.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05840"/>
            <a:ext cx="2651760" cy="1554480"/>
          </a:xfrm>
          <a:prstGeom prst="roundRect">
            <a:avLst/>
          </a:prstGeom>
          <a:solidFill>
            <a:srgbClr val="D7ECE8"/>
          </a:solidFill>
          <a:ln w="19050">
            <a:solidFill>
              <a:srgbClr val="105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097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Developer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FAIL — Min DSCR = -0.175, after-tax NPV = -$6.05M. Revenue covers only 59% of debt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05840"/>
            <a:ext cx="2651760" cy="1554480"/>
          </a:xfrm>
          <a:prstGeom prst="roundRect">
            <a:avLst/>
          </a:prstGeom>
          <a:solidFill>
            <a:srgbClr val="D6ECE8"/>
          </a:solidFill>
          <a:ln w="19050">
            <a:solidFill>
              <a:srgbClr val="116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Strike Anchor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5%-below-EVN (1,810 VND/kWh) is too low. ~3,900+ VND/kWh needed to clear developer DSCR ≥ 1.0.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34640"/>
            <a:ext cx="2651760" cy="1554480"/>
          </a:xfrm>
          <a:prstGeom prst="roundRect">
            <a:avLst/>
          </a:prstGeom>
          <a:solidFill>
            <a:srgbClr val="7CD0C8"/>
          </a:solidFill>
          <a:ln w="19050">
            <a:solidFill>
              <a:srgbClr val="147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26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BESS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Minimal matched renewable — 6.8 GWh/yr covers only 3.7% of 184 GWh annual load. 96.3% served by EVN.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834640"/>
            <a:ext cx="2651760" cy="1554480"/>
          </a:xfrm>
          <a:prstGeom prst="roundRect">
            <a:avLst/>
          </a:prstGeom>
          <a:solidFill>
            <a:srgbClr val="B5D8D0"/>
          </a:solidFill>
          <a:ln w="19050">
            <a:solidFill>
              <a:srgbClr val="198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926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918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Reject current case. Reopen only with higher strike, smaller sizing, or actual 8760 load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C483F"/>
                </a:solidFill>
                <a:latin typeface="Cabin"/>
              </a:rPr>
              <a:t>ANALYSIS &amp;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5B55"/>
                </a:solidFill>
                <a:latin typeface="Cabin"/>
              </a:rPr>
              <a:t>Financial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5B55"/>
                          </a:solidFill>
                          <a:latin typeface="Cabin"/>
                        </a:rPr>
                        <a:t>Metric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5B55"/>
                          </a:solidFill>
                          <a:latin typeface="Cabin"/>
                        </a:rPr>
                        <a:t>Value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5B55"/>
                          </a:solidFill>
                          <a:latin typeface="Cabin"/>
                        </a:rPr>
                        <a:t>Gate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Buyer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+2.9B VND/yr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&lt; 0 (vs EVN)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Matched Renewable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6.8 GWh/yr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Developer DSCR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-0.175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≥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Developer NPV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-$6.05M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bin"/>
                        </a:rPr>
                        <a:t>&gt;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0" y="10058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55B55"/>
                </a:solidFill>
                <a:latin typeface="Cabin"/>
              </a:rPr>
              <a:t>Gate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463040"/>
            <a:ext cx="2286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1463040"/>
            <a:ext cx="914400" cy="320040"/>
          </a:xfrm>
          <a:prstGeom prst="rect">
            <a:avLst/>
          </a:prstGeom>
          <a:solidFill>
            <a:srgbClr val="B5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bin"/>
              </a:rPr>
              <a:t>Buyer Premium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965960"/>
            <a:ext cx="2286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1965960"/>
            <a:ext cx="84582" cy="320040"/>
          </a:xfrm>
          <a:prstGeom prst="rect">
            <a:avLst/>
          </a:prstGeom>
          <a:solidFill>
            <a:srgbClr val="D7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965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bin"/>
              </a:rPr>
              <a:t>Renewable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468880"/>
            <a:ext cx="2286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2468880"/>
            <a:ext cx="400050" cy="32004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bin"/>
              </a:rPr>
              <a:t>DSCR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971800"/>
            <a:ext cx="2286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2971800"/>
            <a:ext cx="2286000" cy="32004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971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bin"/>
              </a:rPr>
              <a:t>NPV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5B55"/>
                </a:solidFill>
                <a:latin typeface="Cabin"/>
              </a:rPr>
              <a:t>Physical Sizing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Bounded-optimization REopt solve with storage floor: PV=4800kW, BESS=1500kW/3300kWh.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Synthetic DPPA settlement: min(load, generation) rule with strike + adder + KPP × CFMP.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Buyer benchmark: EVN bill under same TOU tariff. Developer: PySAM Single Owner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Controller gap analysis: fixed-window dispatch vs REopt free dispatch.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Site-consistent data: saigon18 load + CFMP + FMP + TOU all from same workstream.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C483F"/>
                </a:solidFill>
                <a:latin typeface="Cabin"/>
              </a:rPr>
              <a:t>NEXT STEPS &amp;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5B55"/>
                </a:solidFill>
                <a:latin typeface="Cabin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1. Reject current case under current strike and sizing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2. Run strike sensitivity sweep (0%, 5%, 10%, 15%, 20% below EVN) to find viable band.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3. Remove storage floor and run free REopt optimization for optimal PV+BESS sizing.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4. Obtain actual monthly EVN bills and 8760 load profile for site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5. Complete 22kV two-part tariff branch analysis and compare against TOU branch.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5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bin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bin"/>
              </a:rPr>
              <a:t>Questions?
contact@allotrope.vc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bin"/>
              </a:rPr>
              <a:t>ALLOTROPE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bin"/>
              </a:rPr>
              <a:t>Partner: Tara | USAID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