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463040" cy="457200"/>
          </a:xfrm>
          <a:prstGeom prst="rect">
            <a:avLst/>
          </a:prstGeom>
          <a:solidFill>
            <a:srgbClr val="155B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ALLOTROPE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Ninhsim DPPA Case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665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Private-Wire Solar Feasibility Screening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5B5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Key findings at a glance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Project: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Ninhsim DPPA Case 1 — Private-wire solar feasibility for the Ninhsim industrial facility.</a:t>
            </a:r>
            <a:pPr indent="0" marL="0">
              <a:spcAft>
                <a:spcPts val="600"/>
              </a:spcAft>
              <a:buNone/>
            </a:pP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REopt PV Sizing: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8761D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38.11 MW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zero battery selected under the current case objective.</a:t>
            </a:r>
            <a:pPr indent="0" marL="0">
              <a:spcAft>
                <a:spcPts val="600"/>
              </a:spcAft>
              <a:buNone/>
            </a:pP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Strike Basis: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1,012 VND/kWh (south-region Decree 57 ceiling).</a:t>
            </a:r>
            <a:pPr indent="0" marL="0">
              <a:spcAft>
                <a:spcPts val="600"/>
              </a:spcAft>
              <a:buNone/>
            </a:pP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Finance: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Project IRR 0.0% — does not clear the 15.0% hurdle.</a:t>
            </a:r>
            <a:pPr indent="0" marL="0">
              <a:spcAft>
                <a:spcPts val="600"/>
              </a:spcAft>
              <a:buNone/>
            </a:pP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Recommendation: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needs_reprice_or_resize — the case requires repricing or a bounded resize before advancing.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Confidential — For Internal Use by Allotrope &amp; Key Partners — Not Approved for Further Circulation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828800"/>
          </a:xfrm>
          <a:prstGeom prst="rect">
            <a:avLst/>
          </a:prstGeom>
          <a:solidFill>
            <a:srgbClr val="D7EC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CONCLUSIONS &amp; RECOMMENDATIONS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7668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DPPA Case 1 — Initial Screening Results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Confidential — For Internal Use by Allotrope &amp; Key Partners — Not Approved for Further Circulation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Five critical observations from the Case 1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554480" cy="3291840"/>
          </a:xfrm>
          <a:prstGeom prst="roundRect">
            <a:avLst>
              <a:gd name="adj" fmla="val 4706"/>
            </a:avLst>
          </a:prstGeom>
          <a:solidFill>
            <a:srgbClr val="FBFBFB"/>
          </a:solidFill>
          <a:ln w="19050">
            <a:solidFill>
              <a:srgbClr val="0C48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1554480" cy="457200"/>
          </a:xfrm>
          <a:prstGeom prst="rect">
            <a:avLst/>
          </a:prstGeom>
          <a:solidFill>
            <a:srgbClr val="0C483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Substantial Solar Resource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737360"/>
            <a:ext cx="14081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REopt sized 38.11 MW PV, delivering 48.7 GWh annually with minimal curtailment (2.1 GWh) and zero grid export.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188720"/>
            <a:ext cx="1554480" cy="3291840"/>
          </a:xfrm>
          <a:prstGeom prst="roundRect">
            <a:avLst>
              <a:gd name="adj" fmla="val 4706"/>
            </a:avLst>
          </a:prstGeom>
          <a:solidFill>
            <a:srgbClr val="FBFBFB"/>
          </a:solidFill>
          <a:ln w="19050">
            <a:solidFill>
              <a:srgbClr val="105C5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1188720"/>
            <a:ext cx="1554480" cy="457200"/>
          </a:xfrm>
          <a:prstGeom prst="rect">
            <a:avLst/>
          </a:prstGeom>
          <a:solidFill>
            <a:srgbClr val="105C51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Zero Battery Adoption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84832" y="1737360"/>
            <a:ext cx="14081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REopt selected 0 MW / 0 MWh BESS under the private-wire objective. The 2-hour duration lock did not change the optimal result.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3320" y="1188720"/>
            <a:ext cx="1554480" cy="3291840"/>
          </a:xfrm>
          <a:prstGeom prst="roundRect">
            <a:avLst>
              <a:gd name="adj" fmla="val 4706"/>
            </a:avLst>
          </a:prstGeom>
          <a:solidFill>
            <a:srgbClr val="FBFBFB"/>
          </a:solidFill>
          <a:ln w="19050">
            <a:solidFill>
              <a:srgbClr val="1166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188720"/>
            <a:ext cx="1554480" cy="457200"/>
          </a:xfrm>
          <a:prstGeom prst="rect">
            <a:avLst/>
          </a:prstGeom>
          <a:solidFill>
            <a:srgbClr val="11665A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Below Hurdle Returns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76472" y="1737360"/>
            <a:ext cx="14081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Project IRR of 0.0% falls well short of the 15.0% target. Repricing or resizing is required before the case can advance.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4960" y="1188720"/>
            <a:ext cx="1554480" cy="3291840"/>
          </a:xfrm>
          <a:prstGeom prst="roundRect">
            <a:avLst>
              <a:gd name="adj" fmla="val 4706"/>
            </a:avLst>
          </a:prstGeom>
          <a:solidFill>
            <a:srgbClr val="FBFBFB"/>
          </a:solidFill>
          <a:ln w="19050">
            <a:solidFill>
              <a:srgbClr val="1476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1188720"/>
            <a:ext cx="1554480" cy="457200"/>
          </a:xfrm>
          <a:prstGeom prst="rect">
            <a:avLst/>
          </a:prstGeom>
          <a:solidFill>
            <a:srgbClr val="147668"/>
          </a:solidFill>
          <a:ln/>
        </p:spPr>
      </p:sp>
      <p:sp>
        <p:nvSpPr>
          <p:cNvPr id="19" name="Text 17"/>
          <p:cNvSpPr/>
          <p:nvPr/>
        </p:nvSpPr>
        <p:spPr>
          <a:xfrm>
            <a:off x="539496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Export-Free Design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68112" y="1737360"/>
            <a:ext cx="14081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case enforces a no-export-intent design (0.0% export fraction), keeping the private-wire strike ceiling intact.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86600" y="1188720"/>
            <a:ext cx="1554480" cy="3291840"/>
          </a:xfrm>
          <a:prstGeom prst="roundRect">
            <a:avLst>
              <a:gd name="adj" fmla="val 4706"/>
            </a:avLst>
          </a:prstGeom>
          <a:solidFill>
            <a:srgbClr val="FBFBFB"/>
          </a:solidFill>
          <a:ln w="19050">
            <a:solidFill>
              <a:srgbClr val="198F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1188720"/>
            <a:ext cx="1554480" cy="457200"/>
          </a:xfrm>
          <a:prstGeom prst="rect">
            <a:avLst/>
          </a:prstGeom>
          <a:solidFill>
            <a:srgbClr val="198F7E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188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Sensitive to Assumptions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9752" y="1737360"/>
            <a:ext cx="14081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combined decision is needs_reprice_or_resize, driven primarily by strike and capex sensitivity in the current basis.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Confidential — For Internal Use by Allotrope &amp; Key Partners — Not Approved for Further Circulation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Analysis Detail — Energy Results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REopt vs PySAM energy comparison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514600"/>
                <a:gridCol w="2514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5B55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Metric</a:t>
                      </a:r>
                      <a:endParaRPr lang="en-US" sz="10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5B55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REopt</a:t>
                      </a:r>
                      <a:endParaRPr lang="en-US" sz="10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5B55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PySAM</a:t>
                      </a:r>
                      <a:endParaRPr lang="en-US" sz="10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PV Capacity (MW)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38.11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38.11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BESS (MW / MWh)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0.00 / 0.00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0.00 / 0.00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Annual Delivered (GWh)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48.704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48.704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Export (GWh)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0.000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0.000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Curtailment (GWh)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2.055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2.055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Export Fraction (%)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0.000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0.000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Confidential — For Internal Use by Allotrope &amp; Key Partners — Not Approved for Further Circulation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Financial Summary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Private-wire economics and IRR screening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1645920"/>
                <a:gridCol w="22860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5B55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Metric</a:t>
                      </a:r>
                      <a:endParaRPr lang="en-US" sz="10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5B55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Value</a:t>
                      </a:r>
                      <a:endParaRPr lang="en-US" sz="10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5B55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Target</a:t>
                      </a:r>
                      <a:endParaRPr lang="en-US" sz="10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5B55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Status</a:t>
                      </a:r>
                      <a:endParaRPr lang="en-US" sz="10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Strike (VND/kWh)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1,012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—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8761D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Ceiling basis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Project IRR (%)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0.0%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15.0%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Below hurdle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Equity IRR (%)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0.0%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15.0%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Below hurdle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Recommendation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needs_reprice_or_resize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bin" pitchFamily="34" charset="0"/>
                          <a:ea typeface="Cabin" pitchFamily="34" charset="-122"/>
                          <a:cs typeface="Cabin" pitchFamily="34" charset="-120"/>
                        </a:rPr>
                        <a:t>Advance blocked</a:t>
                      </a:r>
                      <a:endParaRPr lang="en-US" sz="1100" dirty="0">
                        <a:latin typeface="Cabin" charset="0"/>
                        <a:ea typeface="Cabin" charset="0"/>
                        <a:cs typeface="Cab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Recommendation: needs_reprice_or_resize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current case does not clear the IRR hurdles. Repricing or a bounded resize is required before advancing.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Confidential — For Internal Use by Allotrope &amp; Key Partners — Not Approved for Further Circulation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Tools &amp; Methodology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Stack used for Case 1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REopt.jl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First-pass PV+BESS sizing with Vietnam tariff defaults and Decree 57 ceiling.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PySAM (PVWatts + Battwatts + Single Owner)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Fuller finance screen with private-wire strike and zero sell rate.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Integration Bridge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Maps REopt sizes into PySAM and compares energy alignment.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Decision Logic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Combined screening: negligible export + IRR hurdles must both clear.</a:t>
            </a:r>
            <a:pPr indent="0" marL="0">
              <a:spcAft>
                <a:spcPts val="600"/>
              </a:spcAft>
              <a:buNone/>
            </a:pP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C483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Limitations: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PySAM uses PVWatts+Battwatts (not Pvsamv1). REopt is the first-pass sizing truth. Material REopt-PySAM mismatch triggers bounded iteration.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Confidential — For Internal Use by Allotrope &amp; Key Partners — Not Approved for Further Circulation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Next Steps &amp; Open Questions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Seeds for the next analysis pass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Resize or Reprice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Decide whether the next pass should change strike, capex assumptions, or REopt size bounds.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REopt-PySAM Loop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Add a bounded resize loop if REopt and PySAM disagree materially on export or curtailment.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Interim Reports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Add automated phase-A/B/C HTML report generation if this becomes the preferred template.</a:t>
            </a:r>
            <a:pPr indent="0" marL="0">
              <a:spcAft>
                <a:spcPts val="600"/>
              </a:spcAft>
              <a:buNone/>
            </a:pP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Current Status: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55B55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needs_reprice_or_resize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do not advance without repricing or a bounded resize.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Confidential — For Internal Use by Allotrope &amp; Key Partners — Not Approved for Further Circulation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5B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5D8D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Tung Ho
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tah@allotropepartners.com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Allotrope Partners — Vietnam Energy Storage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2026-05-04T13:50:56Z</dcterms:created>
  <dcterms:modified xsi:type="dcterms:W3CDTF">2026-05-04T13:50:56Z</dcterms:modified>
</cp:coreProperties>
</file>